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</p:sldMasterIdLst>
  <p:notesMasterIdLst>
    <p:notesMasterId r:id="rId8"/>
  </p:notesMasterIdLst>
  <p:sldIdLst>
    <p:sldId id="733" r:id="rId3"/>
    <p:sldId id="734" r:id="rId4"/>
    <p:sldId id="735" r:id="rId5"/>
    <p:sldId id="819" r:id="rId6"/>
    <p:sldId id="73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8">
          <p15:clr>
            <a:srgbClr val="A4A3A4"/>
          </p15:clr>
        </p15:guide>
        <p15:guide id="2" pos="4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00"/>
    <a:srgbClr val="FF9300"/>
    <a:srgbClr val="4B2E83"/>
    <a:srgbClr val="E8D3A2"/>
    <a:srgbClr val="E8E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56" autoAdjust="0"/>
    <p:restoredTop sz="96327"/>
  </p:normalViewPr>
  <p:slideViewPr>
    <p:cSldViewPr snapToGrid="0" snapToObjects="1" showGuides="1">
      <p:cViewPr varScale="1">
        <p:scale>
          <a:sx n="126" d="100"/>
          <a:sy n="126" d="100"/>
        </p:scale>
        <p:origin x="1624" y="192"/>
      </p:cViewPr>
      <p:guideLst>
        <p:guide orient="horz" pos="2488"/>
        <p:guide pos="4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3B509-834C-9E4A-9A0F-AE989E5F16D1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6F771-1A75-9948-93E4-25C9702F9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W_W Logo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15" y="5945854"/>
            <a:ext cx="1371600" cy="9235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2" name="Picture 1" descr="Bar_RtAngle_7502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7" y="4006085"/>
            <a:ext cx="2284303" cy="11277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179824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</p:spTree>
    <p:extLst>
      <p:ext uri="{BB962C8B-B14F-4D97-AF65-F5344CB8AC3E}">
        <p14:creationId xmlns:p14="http://schemas.microsoft.com/office/powerpoint/2010/main" val="2373491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FFFFFF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	, 24 PT.)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48401" y="6354234"/>
            <a:ext cx="2540000" cy="266700"/>
          </a:xfrm>
          <a:prstGeom prst="rect">
            <a:avLst/>
          </a:prstGeom>
        </p:spPr>
      </p:pic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65069"/>
            <a:ext cx="8184662" cy="998440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276924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W_W Logo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15" y="5945854"/>
            <a:ext cx="1371600" cy="923544"/>
          </a:xfrm>
          <a:prstGeom prst="rect">
            <a:avLst/>
          </a:prstGeom>
        </p:spPr>
      </p:pic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076956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Bulleted content here (Open Sans Light, 24 pt.)</a:t>
            </a:r>
          </a:p>
          <a:p>
            <a:pPr lvl="1"/>
            <a:r>
              <a:rPr lang="en-US" dirty="0"/>
              <a:t>Second level (Open Sans Light, 20)</a:t>
            </a:r>
          </a:p>
          <a:p>
            <a:pPr lvl="2"/>
            <a:r>
              <a:rPr lang="en-US" dirty="0"/>
              <a:t>Third level (Open Sans Light, 18)</a:t>
            </a:r>
          </a:p>
          <a:p>
            <a:pPr lvl="3"/>
            <a:r>
              <a:rPr lang="en-US" dirty="0"/>
              <a:t>Fourth level (Open Sans Light, 16)</a:t>
            </a:r>
          </a:p>
          <a:p>
            <a:pPr lvl="4"/>
            <a:r>
              <a:rPr lang="en-US" dirty="0"/>
              <a:t>Fifth level (Open Sans Light, 14)</a:t>
            </a:r>
          </a:p>
        </p:txBody>
      </p:sp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064505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23633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48401" y="6354234"/>
            <a:ext cx="2540000" cy="266700"/>
          </a:xfrm>
          <a:prstGeom prst="rect">
            <a:avLst/>
          </a:prstGeom>
        </p:spPr>
      </p:pic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4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82856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 Logo_Purple_2685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  <p:pic>
        <p:nvPicPr>
          <p:cNvPr id="9" name="Picture 8" descr="Wordmark_center_Purple_HEX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487457"/>
            <a:ext cx="2425295" cy="163374"/>
          </a:xfrm>
          <a:prstGeom prst="rect">
            <a:avLst/>
          </a:prstGeom>
        </p:spPr>
      </p:pic>
      <p:pic>
        <p:nvPicPr>
          <p:cNvPr id="6" name="Picture 5" descr="Bar_RtAngle_7502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7" y="4006085"/>
            <a:ext cx="2284303" cy="11277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167124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rgbClr val="4B2E83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</p:spTree>
    <p:extLst>
      <p:ext uri="{BB962C8B-B14F-4D97-AF65-F5344CB8AC3E}">
        <p14:creationId xmlns:p14="http://schemas.microsoft.com/office/powerpoint/2010/main" val="339719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4B2E83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LIGHT, 24 PT.)</a:t>
            </a:r>
          </a:p>
        </p:txBody>
      </p:sp>
      <p:pic>
        <p:nvPicPr>
          <p:cNvPr id="9" name="Picture 8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155" y="6487457"/>
            <a:ext cx="2425295" cy="163374"/>
          </a:xfrm>
          <a:prstGeom prst="rect">
            <a:avLst/>
          </a:prstGeom>
        </p:spPr>
      </p:pic>
      <p:pic>
        <p:nvPicPr>
          <p:cNvPr id="8" name="Picture 7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466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rgbClr val="4B2E83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07287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196210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9" name="Picture 8" descr="W Logo_Purple_2685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  <p:pic>
        <p:nvPicPr>
          <p:cNvPr id="7" name="Picture 6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3759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145022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999999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7" name="Picture 6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05" y="6487457"/>
            <a:ext cx="2425295" cy="163374"/>
          </a:xfrm>
          <a:prstGeom prst="rect">
            <a:avLst/>
          </a:prstGeom>
        </p:spPr>
      </p:pic>
      <p:pic>
        <p:nvPicPr>
          <p:cNvPr id="6" name="Picture 5" descr="Bar_RtAngle_7502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4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248955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03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86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3" r:id="rId2"/>
    <p:sldLayoutId id="2147483664" r:id="rId3"/>
    <p:sldLayoutId id="2147483665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istenmoneymatters.com/one-million-dollars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63.png"/><Relationship Id="rId7" Type="http://schemas.openxmlformats.org/officeDocument/2006/relationships/image" Target="../media/image8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64.png"/><Relationship Id="rId4" Type="http://schemas.openxmlformats.org/officeDocument/2006/relationships/image" Target="../media/image89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0.png"/><Relationship Id="rId4" Type="http://schemas.openxmlformats.org/officeDocument/2006/relationships/image" Target="../media/image8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1DEBBB-4020-3587-64C9-C087592AF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4813300"/>
            <a:ext cx="3606800" cy="2044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28F37-6EC7-EC93-8B05-920B15277E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44" t="926" r="6694" b="57347"/>
          <a:stretch/>
        </p:blipFill>
        <p:spPr>
          <a:xfrm>
            <a:off x="6400800" y="438912"/>
            <a:ext cx="2468880" cy="966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E938E-4CF5-377B-8DA3-88BCF7C9EC70}"/>
              </a:ext>
            </a:extLst>
          </p:cNvPr>
          <p:cNvSpPr txBox="1"/>
          <p:nvPr/>
        </p:nvSpPr>
        <p:spPr>
          <a:xfrm>
            <a:off x="2319901" y="2124483"/>
            <a:ext cx="53153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Earn 1 Million Dollars?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B4135-1A19-31A6-622A-DA3C73015744}"/>
              </a:ext>
            </a:extLst>
          </p:cNvPr>
          <p:cNvSpPr txBox="1"/>
          <p:nvPr/>
        </p:nvSpPr>
        <p:spPr>
          <a:xfrm>
            <a:off x="572907" y="3613666"/>
            <a:ext cx="5447004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Why?</a:t>
            </a:r>
          </a:p>
          <a:p>
            <a:endParaRPr lang="en-US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Retire young (in 30s, 40s or 50s)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Never have to work for anyone 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Never have to worry about money (living on interest)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things you like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300"/>
                </a:solidFill>
              </a:rPr>
              <a:t>“Financial </a:t>
            </a:r>
            <a:r>
              <a:rPr lang="en-US" b="1" u="sng" dirty="0">
                <a:solidFill>
                  <a:srgbClr val="FF9300"/>
                </a:solidFill>
              </a:rPr>
              <a:t>Freedom</a:t>
            </a:r>
            <a:r>
              <a:rPr lang="en-US" b="1" dirty="0">
                <a:solidFill>
                  <a:srgbClr val="FF9300"/>
                </a:solidFill>
              </a:rPr>
              <a:t>” – best thing money can buy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9900AC-BDE5-13C0-37D4-2F2EA0DBBA67}"/>
              </a:ext>
            </a:extLst>
          </p:cNvPr>
          <p:cNvSpPr txBox="1"/>
          <p:nvPr/>
        </p:nvSpPr>
        <p:spPr>
          <a:xfrm>
            <a:off x="6400800" y="2832369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legally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C8A8-C2EC-BC4C-E7F7-D99D20BEDA27}"/>
              </a:ext>
            </a:extLst>
          </p:cNvPr>
          <p:cNvSpPr txBox="1"/>
          <p:nvPr/>
        </p:nvSpPr>
        <p:spPr>
          <a:xfrm>
            <a:off x="5334000" y="6419088"/>
            <a:ext cx="3866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section is for learning and demo of coding and problem solving only.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is NOT an investment advice by any means.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669E4-D46E-553B-9111-BF3D48D51710}"/>
              </a:ext>
            </a:extLst>
          </p:cNvPr>
          <p:cNvSpPr txBox="1"/>
          <p:nvPr/>
        </p:nvSpPr>
        <p:spPr>
          <a:xfrm>
            <a:off x="6400800" y="3244334"/>
            <a:ext cx="257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without working too hard</a:t>
            </a:r>
          </a:p>
        </p:txBody>
      </p:sp>
    </p:spTree>
    <p:extLst>
      <p:ext uri="{BB962C8B-B14F-4D97-AF65-F5344CB8AC3E}">
        <p14:creationId xmlns:p14="http://schemas.microsoft.com/office/powerpoint/2010/main" val="247058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1DEBBB-4020-3587-64C9-C087592AF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5705856"/>
            <a:ext cx="3606800" cy="11521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E938E-4CF5-377B-8DA3-88BCF7C9EC70}"/>
              </a:ext>
            </a:extLst>
          </p:cNvPr>
          <p:cNvSpPr txBox="1"/>
          <p:nvPr/>
        </p:nvSpPr>
        <p:spPr>
          <a:xfrm>
            <a:off x="1654795" y="1934972"/>
            <a:ext cx="4376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$1,000,000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B4135-1A19-31A6-622A-DA3C73015744}"/>
              </a:ext>
            </a:extLst>
          </p:cNvPr>
          <p:cNvSpPr txBox="1"/>
          <p:nvPr/>
        </p:nvSpPr>
        <p:spPr>
          <a:xfrm>
            <a:off x="1158405" y="3057078"/>
            <a:ext cx="21560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How?</a:t>
            </a:r>
          </a:p>
          <a:p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Inheritance?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8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Salary?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8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Lottery?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8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Start a 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8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What else?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6B5F3A-9EAD-DF26-B421-CABE0C923DE4}"/>
              </a:ext>
            </a:extLst>
          </p:cNvPr>
          <p:cNvGrpSpPr/>
          <p:nvPr/>
        </p:nvGrpSpPr>
        <p:grpSpPr>
          <a:xfrm>
            <a:off x="5019527" y="1286616"/>
            <a:ext cx="4085124" cy="3678837"/>
            <a:chOff x="5019527" y="1286616"/>
            <a:chExt cx="4085124" cy="367883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13B5C04-DCA8-1F19-5B06-9669BB91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9527" y="1286616"/>
              <a:ext cx="3073675" cy="335631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3ECB70-51A2-6D08-E0EC-417E1DBC00A1}"/>
                </a:ext>
              </a:extLst>
            </p:cNvPr>
            <p:cNvSpPr txBox="1"/>
            <p:nvPr/>
          </p:nvSpPr>
          <p:spPr>
            <a:xfrm>
              <a:off x="6030976" y="4734621"/>
              <a:ext cx="307367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hlinkClick r:id="rId4"/>
                </a:rPr>
                <a:t>https://www.listenmoneymatters.com/one-million-dollars/</a:t>
              </a:r>
              <a:endParaRPr lang="en-US" sz="9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63D4E7B-2E4D-BD76-CBC9-D471836A689E}"/>
              </a:ext>
            </a:extLst>
          </p:cNvPr>
          <p:cNvSpPr txBox="1"/>
          <p:nvPr/>
        </p:nvSpPr>
        <p:spPr>
          <a:xfrm>
            <a:off x="5334000" y="6419088"/>
            <a:ext cx="3866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section is for learning and demo of coding and problem solving only.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is NOT an investment advice by any means. </a:t>
            </a:r>
          </a:p>
        </p:txBody>
      </p:sp>
    </p:spTree>
    <p:extLst>
      <p:ext uri="{BB962C8B-B14F-4D97-AF65-F5344CB8AC3E}">
        <p14:creationId xmlns:p14="http://schemas.microsoft.com/office/powerpoint/2010/main" val="305224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DC6AEAF6-2839-4BCF-6851-D6FB030F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76" y="1036170"/>
            <a:ext cx="3606800" cy="115214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C7B78C2-3799-B124-1377-91ED0AFA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5705856"/>
            <a:ext cx="3606800" cy="11521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49D1AB-9451-7A99-AE6D-8664E267DFB6}"/>
                  </a:ext>
                </a:extLst>
              </p:cNvPr>
              <p:cNvSpPr txBox="1"/>
              <p:nvPr/>
            </p:nvSpPr>
            <p:spPr>
              <a:xfrm>
                <a:off x="1302858" y="3098814"/>
                <a:ext cx="17988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+ $100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×10%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49D1AB-9451-7A99-AE6D-8664E267D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858" y="3098814"/>
                <a:ext cx="1798890" cy="4001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097535B7-5F97-A8A6-E596-A5B66B874CBC}"/>
              </a:ext>
            </a:extLst>
          </p:cNvPr>
          <p:cNvGrpSpPr/>
          <p:nvPr/>
        </p:nvGrpSpPr>
        <p:grpSpPr>
          <a:xfrm>
            <a:off x="1006594" y="2120130"/>
            <a:ext cx="3142488" cy="590272"/>
            <a:chOff x="520872" y="1925852"/>
            <a:chExt cx="3142488" cy="59027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D7F2C0-9328-F126-4E31-388A5546DEDC}"/>
                </a:ext>
              </a:extLst>
            </p:cNvPr>
            <p:cNvSpPr txBox="1"/>
            <p:nvPr/>
          </p:nvSpPr>
          <p:spPr>
            <a:xfrm>
              <a:off x="1841647" y="1925852"/>
              <a:ext cx="774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Year 1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E20E861-DD0C-2B42-597E-234E9AA20F4A}"/>
                </a:ext>
              </a:extLst>
            </p:cNvPr>
            <p:cNvCxnSpPr>
              <a:cxnSpLocks/>
            </p:cNvCxnSpPr>
            <p:nvPr/>
          </p:nvCxnSpPr>
          <p:spPr>
            <a:xfrm>
              <a:off x="520872" y="2350008"/>
              <a:ext cx="3136728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08E46F8-08CE-57A0-D35A-613AFE061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872" y="2183892"/>
              <a:ext cx="0" cy="3322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85A7F1F-04D2-3FEC-2152-A4677BFD4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3360" y="2183892"/>
              <a:ext cx="0" cy="3322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1EE5FEE-7372-3792-4367-7F066F1903EE}"/>
              </a:ext>
            </a:extLst>
          </p:cNvPr>
          <p:cNvGrpSpPr/>
          <p:nvPr/>
        </p:nvGrpSpPr>
        <p:grpSpPr>
          <a:xfrm>
            <a:off x="4143322" y="3872958"/>
            <a:ext cx="3142488" cy="590272"/>
            <a:chOff x="3657600" y="3678680"/>
            <a:chExt cx="3142488" cy="59027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DE770A5-7384-1B24-FC51-474EFD95F0E3}"/>
                </a:ext>
              </a:extLst>
            </p:cNvPr>
            <p:cNvGrpSpPr/>
            <p:nvPr/>
          </p:nvGrpSpPr>
          <p:grpSpPr>
            <a:xfrm>
              <a:off x="3657600" y="3678680"/>
              <a:ext cx="3136728" cy="424156"/>
              <a:chOff x="3657600" y="3678680"/>
              <a:chExt cx="3136728" cy="424156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96C79D-67DE-8BF5-3D75-36A79D899077}"/>
                  </a:ext>
                </a:extLst>
              </p:cNvPr>
              <p:cNvSpPr txBox="1"/>
              <p:nvPr/>
            </p:nvSpPr>
            <p:spPr>
              <a:xfrm>
                <a:off x="4978375" y="3678680"/>
                <a:ext cx="774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Year 2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FD3D928-0593-7642-F516-0B74F6AD5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600" y="4102836"/>
                <a:ext cx="3136728" cy="0"/>
              </a:xfrm>
              <a:prstGeom prst="line">
                <a:avLst/>
              </a:prstGeom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F00AD6-2293-1718-EECA-989D299C8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7600" y="3936720"/>
              <a:ext cx="0" cy="3322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094FD6-0A35-7036-5F91-88A3E733D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0088" y="3936720"/>
              <a:ext cx="0" cy="33223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D827A3-D2C0-6852-40B5-5F703536EEBB}"/>
                  </a:ext>
                </a:extLst>
              </p:cNvPr>
              <p:cNvSpPr txBox="1"/>
              <p:nvPr/>
            </p:nvSpPr>
            <p:spPr>
              <a:xfrm>
                <a:off x="4334885" y="4779661"/>
                <a:ext cx="27343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$110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+ $1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×10%=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D827A3-D2C0-6852-40B5-5F703536E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885" y="4779661"/>
                <a:ext cx="2734338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67BB46BA-34F2-0928-443F-5009E2E64406}"/>
              </a:ext>
            </a:extLst>
          </p:cNvPr>
          <p:cNvGrpSpPr/>
          <p:nvPr/>
        </p:nvGrpSpPr>
        <p:grpSpPr>
          <a:xfrm>
            <a:off x="606484" y="2819632"/>
            <a:ext cx="800219" cy="682954"/>
            <a:chOff x="120762" y="2625354"/>
            <a:chExt cx="800219" cy="6829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3CB870D-6C75-071F-3B65-0F5E76E3FC39}"/>
                    </a:ext>
                  </a:extLst>
                </p:cNvPr>
                <p:cNvSpPr txBox="1"/>
                <p:nvPr/>
              </p:nvSpPr>
              <p:spPr>
                <a:xfrm>
                  <a:off x="120762" y="2908198"/>
                  <a:ext cx="80021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$100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3CB870D-6C75-071F-3B65-0F5E76E3F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762" y="2908198"/>
                  <a:ext cx="800219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116BE9-237D-CE78-A572-D928FB5ACC4F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520872" y="2625354"/>
              <a:ext cx="0" cy="282844"/>
            </a:xfrm>
            <a:prstGeom prst="line">
              <a:avLst/>
            </a:prstGeom>
            <a:ln w="15875">
              <a:solidFill>
                <a:schemeClr val="accent3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0054F3F-BC43-19D7-D143-75F3930D029A}"/>
              </a:ext>
            </a:extLst>
          </p:cNvPr>
          <p:cNvGrpSpPr/>
          <p:nvPr/>
        </p:nvGrpSpPr>
        <p:grpSpPr>
          <a:xfrm>
            <a:off x="1802122" y="2782030"/>
            <a:ext cx="2734146" cy="1117004"/>
            <a:chOff x="1316400" y="2587752"/>
            <a:chExt cx="2734146" cy="11170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54D406-DFFF-2AB6-BC8C-5CCFC539FCB7}"/>
                    </a:ext>
                  </a:extLst>
                </p:cNvPr>
                <p:cNvSpPr txBox="1"/>
                <p:nvPr/>
              </p:nvSpPr>
              <p:spPr>
                <a:xfrm>
                  <a:off x="1316400" y="3304646"/>
                  <a:ext cx="273414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=$100+$10=</m:t>
                        </m:r>
                        <m:r>
                          <a:rPr lang="en-US" sz="2000" b="0" i="1" dirty="0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$110</m:t>
                        </m:r>
                        <m:r>
                          <a:rPr lang="en-US" sz="2000" i="1" dirty="0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54D406-DFFF-2AB6-BC8C-5CCFC539F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6400" y="3304646"/>
                  <a:ext cx="2734146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BA10DF2-2BBB-1DDC-179E-7AEE613D8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7600" y="2587752"/>
              <a:ext cx="0" cy="576355"/>
            </a:xfrm>
            <a:prstGeom prst="line">
              <a:avLst/>
            </a:prstGeom>
            <a:ln w="15875">
              <a:solidFill>
                <a:schemeClr val="accent3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F4C4EF75-1B74-FB6D-8318-510871491ED2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3314191" y="1194989"/>
            <a:ext cx="1658263" cy="6273456"/>
          </a:xfrm>
          <a:prstGeom prst="bentConnector3">
            <a:avLst>
              <a:gd name="adj1" fmla="val 120954"/>
            </a:avLst>
          </a:prstGeom>
          <a:ln w="9525">
            <a:solidFill>
              <a:srgbClr val="FF9300"/>
            </a:solidFill>
            <a:prstDash val="sysDash"/>
            <a:headEnd type="oval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783F490-63AA-34F0-199C-992E1159AB99}"/>
              </a:ext>
            </a:extLst>
          </p:cNvPr>
          <p:cNvGrpSpPr/>
          <p:nvPr/>
        </p:nvGrpSpPr>
        <p:grpSpPr>
          <a:xfrm>
            <a:off x="6758324" y="4518054"/>
            <a:ext cx="1049213" cy="642795"/>
            <a:chOff x="6269721" y="4323776"/>
            <a:chExt cx="1049213" cy="6427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DFC361C-C381-8113-3C18-C7B5D828FB36}"/>
                    </a:ext>
                  </a:extLst>
                </p:cNvPr>
                <p:cNvSpPr txBox="1"/>
                <p:nvPr/>
              </p:nvSpPr>
              <p:spPr>
                <a:xfrm>
                  <a:off x="6269721" y="4597239"/>
                  <a:ext cx="10492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800" b="0" i="1" dirty="0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$121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DFC361C-C381-8113-3C18-C7B5D828F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721" y="4597239"/>
                  <a:ext cx="104921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A4F1393-90B6-05CB-FE9D-229ACB98BAF3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 flipV="1">
              <a:off x="6794328" y="4323776"/>
              <a:ext cx="0" cy="273463"/>
            </a:xfrm>
            <a:prstGeom prst="line">
              <a:avLst/>
            </a:prstGeom>
            <a:ln w="15875">
              <a:solidFill>
                <a:schemeClr val="accent3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CCA2849-8A60-7FA9-E019-B4F72BF154BB}"/>
                  </a:ext>
                </a:extLst>
              </p:cNvPr>
              <p:cNvSpPr txBox="1"/>
              <p:nvPr/>
            </p:nvSpPr>
            <p:spPr>
              <a:xfrm>
                <a:off x="2964755" y="5586046"/>
                <a:ext cx="22555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  <m:r>
                        <a:rPr lang="en-US" sz="1800" b="1" i="1" dirty="0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en-US" sz="1800" b="1" i="1" dirty="0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$</m:t>
                      </m:r>
                      <m:r>
                        <a:rPr lang="en-US" sz="1800" b="1" i="1" dirty="0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𝟏𝟐𝟏</m:t>
                      </m:r>
                    </m:oMath>
                  </m:oMathPara>
                </a14:m>
                <a:endParaRPr lang="en-US" b="1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CCA2849-8A60-7FA9-E019-B4F72BF15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755" y="5586046"/>
                <a:ext cx="2255535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Picture 66">
            <a:extLst>
              <a:ext uri="{FF2B5EF4-FFF2-40B4-BE49-F238E27FC236}">
                <a16:creationId xmlns:a16="http://schemas.microsoft.com/office/drawing/2014/main" id="{CB51C3AA-C581-5342-D56A-01855B406A1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353" t="1352" b="13402"/>
          <a:stretch/>
        </p:blipFill>
        <p:spPr>
          <a:xfrm>
            <a:off x="4882902" y="160277"/>
            <a:ext cx="3952314" cy="2819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FD1229-1CBF-BF00-A070-0963E10CDD52}"/>
              </a:ext>
            </a:extLst>
          </p:cNvPr>
          <p:cNvSpPr txBox="1"/>
          <p:nvPr/>
        </p:nvSpPr>
        <p:spPr>
          <a:xfrm>
            <a:off x="0" y="35520"/>
            <a:ext cx="3866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section is for learning and demo of coding and problem solving only.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is NOT an investment advice by any means. </a:t>
            </a:r>
          </a:p>
        </p:txBody>
      </p:sp>
    </p:spTree>
    <p:extLst>
      <p:ext uri="{BB962C8B-B14F-4D97-AF65-F5344CB8AC3E}">
        <p14:creationId xmlns:p14="http://schemas.microsoft.com/office/powerpoint/2010/main" val="25712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5" grpId="0"/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F29B94-0BC2-483C-6176-991BC0E20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36" y="1152144"/>
            <a:ext cx="3606800" cy="115214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C7B78C2-3799-B124-1377-91ED0AFA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5705856"/>
            <a:ext cx="3606800" cy="1152144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A5F5C95-7565-E7CC-4843-BFE28F8F7D40}"/>
              </a:ext>
            </a:extLst>
          </p:cNvPr>
          <p:cNvSpPr txBox="1"/>
          <p:nvPr/>
        </p:nvSpPr>
        <p:spPr>
          <a:xfrm>
            <a:off x="823969" y="4627248"/>
            <a:ext cx="35337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with an initial deposit of </a:t>
            </a:r>
            <a:r>
              <a:rPr lang="en-US" u="sng" dirty="0">
                <a:solidFill>
                  <a:srgbClr val="C00000"/>
                </a:solidFill>
              </a:rPr>
              <a:t>$200</a:t>
            </a:r>
            <a:endParaRPr lang="en-US" dirty="0"/>
          </a:p>
          <a:p>
            <a:endParaRPr lang="en-US" dirty="0"/>
          </a:p>
          <a:p>
            <a:r>
              <a:rPr lang="en-US" dirty="0"/>
              <a:t>Put in </a:t>
            </a:r>
            <a:r>
              <a:rPr lang="en-US" u="sng" dirty="0">
                <a:solidFill>
                  <a:srgbClr val="C00000"/>
                </a:solidFill>
              </a:rPr>
              <a:t>$500/month</a:t>
            </a:r>
            <a:endParaRPr lang="en-US" dirty="0"/>
          </a:p>
          <a:p>
            <a:endParaRPr lang="en-US" dirty="0"/>
          </a:p>
          <a:p>
            <a:r>
              <a:rPr lang="en-US" u="sng" dirty="0">
                <a:solidFill>
                  <a:srgbClr val="C00000"/>
                </a:solidFill>
              </a:rPr>
              <a:t>10%</a:t>
            </a:r>
            <a:r>
              <a:rPr lang="en-US" dirty="0"/>
              <a:t> interest (on average)</a:t>
            </a:r>
          </a:p>
          <a:p>
            <a:endParaRPr lang="en-US" dirty="0"/>
          </a:p>
          <a:p>
            <a:r>
              <a:rPr lang="en-US" dirty="0"/>
              <a:t>How many years to reach </a:t>
            </a:r>
            <a:r>
              <a:rPr lang="en-US" b="1" dirty="0"/>
              <a:t>1M</a:t>
            </a:r>
            <a:r>
              <a:rPr lang="en-US" dirty="0"/>
              <a:t>?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631D86-5A49-B4EA-9472-7C1504FDF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991657"/>
            <a:ext cx="4936744" cy="31014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D4661C-3500-4C97-283C-3544AC7D31CD}"/>
                  </a:ext>
                </a:extLst>
              </p:cNvPr>
              <p:cNvSpPr txBox="1"/>
              <p:nvPr/>
            </p:nvSpPr>
            <p:spPr>
              <a:xfrm>
                <a:off x="823969" y="622325"/>
                <a:ext cx="29311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dirty="0">
                    <a:ea typeface="Cambria Math" panose="02040503050406030204" pitchFamily="18" charset="0"/>
                  </a:rPr>
                  <a:t>1 year: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</m:t>
                    </m:r>
                    <m:r>
                      <a:rPr lang="en-US" sz="1800" b="1" i="1" dirty="0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1800" b="1" i="1" dirty="0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 $</m:t>
                    </m:r>
                    <m:r>
                      <a:rPr lang="en-US" sz="1800" b="1" i="1" dirty="0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𝟏𝟐𝟏</m:t>
                    </m:r>
                  </m:oMath>
                </a14:m>
                <a:endParaRPr lang="en-US" b="1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D4661C-3500-4C97-283C-3544AC7D3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69" y="622325"/>
                <a:ext cx="2931167" cy="369332"/>
              </a:xfrm>
              <a:prstGeom prst="rect">
                <a:avLst/>
              </a:prstGeom>
              <a:blipFill>
                <a:blip r:embed="rId4"/>
                <a:stretch>
                  <a:fillRect l="-1724" t="-322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85BB2C-97B0-8BBE-46A1-B05ACBC747C6}"/>
                  </a:ext>
                </a:extLst>
              </p:cNvPr>
              <p:cNvSpPr txBox="1"/>
              <p:nvPr/>
            </p:nvSpPr>
            <p:spPr>
              <a:xfrm>
                <a:off x="823969" y="1525778"/>
                <a:ext cx="29311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ea typeface="Cambria Math" panose="02040503050406030204" pitchFamily="18" charset="0"/>
                  </a:rPr>
                  <a:t>20</a:t>
                </a:r>
                <a:r>
                  <a:rPr lang="en-US" sz="1800" b="1" dirty="0">
                    <a:ea typeface="Cambria Math" panose="02040503050406030204" pitchFamily="18" charset="0"/>
                  </a:rPr>
                  <a:t> years: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b="1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85BB2C-97B0-8BBE-46A1-B05ACBC7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69" y="1525778"/>
                <a:ext cx="2931167" cy="523220"/>
              </a:xfrm>
              <a:prstGeom prst="rect">
                <a:avLst/>
              </a:prstGeom>
              <a:blipFill>
                <a:blip r:embed="rId5"/>
                <a:stretch>
                  <a:fillRect l="-1724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027975C-B6C0-B342-A2A8-37B8BBACA3FA}"/>
              </a:ext>
            </a:extLst>
          </p:cNvPr>
          <p:cNvSpPr txBox="1"/>
          <p:nvPr/>
        </p:nvSpPr>
        <p:spPr>
          <a:xfrm>
            <a:off x="4209549" y="6258463"/>
            <a:ext cx="10272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&lt;CODE&gt;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485A7-641F-F2E5-5952-46259F24F3E3}"/>
              </a:ext>
            </a:extLst>
          </p:cNvPr>
          <p:cNvSpPr txBox="1"/>
          <p:nvPr/>
        </p:nvSpPr>
        <p:spPr>
          <a:xfrm>
            <a:off x="5277236" y="88204"/>
            <a:ext cx="3866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section is for learning and demo of coding and problem solving only.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</a:rPr>
              <a:t>This is NOT an investment advice by any means. </a:t>
            </a:r>
          </a:p>
        </p:txBody>
      </p:sp>
    </p:spTree>
    <p:extLst>
      <p:ext uri="{BB962C8B-B14F-4D97-AF65-F5344CB8AC3E}">
        <p14:creationId xmlns:p14="http://schemas.microsoft.com/office/powerpoint/2010/main" val="142177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7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B94381-F325-3C1D-04C5-94A7F4787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5705856"/>
            <a:ext cx="3606800" cy="1152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43E54F-8BBE-866E-F7AE-99AE59F36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75" y="330822"/>
            <a:ext cx="4951361" cy="3098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077B7E-C00E-3FDD-BDD9-013611D8052F}"/>
              </a:ext>
            </a:extLst>
          </p:cNvPr>
          <p:cNvSpPr txBox="1"/>
          <p:nvPr/>
        </p:nvSpPr>
        <p:spPr>
          <a:xfrm>
            <a:off x="6810484" y="123437"/>
            <a:ext cx="2190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000000"/>
                </a:solidFill>
              </a:rPr>
              <a:t>This section is for learning and demo only.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000000"/>
                </a:solidFill>
              </a:rPr>
              <a:t>This is NOT an investment advice by any means.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726C3B-001C-F208-ACAF-60937FF471C3}"/>
              </a:ext>
            </a:extLst>
          </p:cNvPr>
          <p:cNvSpPr txBox="1"/>
          <p:nvPr/>
        </p:nvSpPr>
        <p:spPr>
          <a:xfrm>
            <a:off x="5448235" y="1510579"/>
            <a:ext cx="1250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500/month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94A4B-CD27-C01C-9263-F3289FE388E9}"/>
              </a:ext>
            </a:extLst>
          </p:cNvPr>
          <p:cNvSpPr txBox="1"/>
          <p:nvPr/>
        </p:nvSpPr>
        <p:spPr>
          <a:xfrm>
            <a:off x="2342810" y="4897611"/>
            <a:ext cx="136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1000/month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F528CC-61CB-D614-71CD-6FA24A3C0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153" y="3667927"/>
            <a:ext cx="4951361" cy="3080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428789-BF81-41EA-AFE9-17F9D9E3E956}"/>
              </a:ext>
            </a:extLst>
          </p:cNvPr>
          <p:cNvSpPr txBox="1"/>
          <p:nvPr/>
        </p:nvSpPr>
        <p:spPr>
          <a:xfrm>
            <a:off x="557784" y="6179706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1M in 24 years!</a:t>
            </a:r>
          </a:p>
        </p:txBody>
      </p:sp>
    </p:spTree>
    <p:extLst>
      <p:ext uri="{BB962C8B-B14F-4D97-AF65-F5344CB8AC3E}">
        <p14:creationId xmlns:p14="http://schemas.microsoft.com/office/powerpoint/2010/main" val="144680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theme/theme1.xml><?xml version="1.0" encoding="utf-8"?>
<a:theme xmlns:a="http://schemas.openxmlformats.org/drawingml/2006/main" name="Custom Design">
  <a:themeElements>
    <a:clrScheme name="UW Brand">
      <a:dk1>
        <a:srgbClr val="33006F"/>
      </a:dk1>
      <a:lt1>
        <a:srgbClr val="E8D3A2"/>
      </a:lt1>
      <a:dk2>
        <a:srgbClr val="33006F"/>
      </a:dk2>
      <a:lt2>
        <a:srgbClr val="FFFFFF"/>
      </a:lt2>
      <a:accent1>
        <a:srgbClr val="33006F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4b2e83 1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26005C"/>
      </a:accent5>
      <a:accent6>
        <a:srgbClr val="917B4C"/>
      </a:accent6>
      <a:hlink>
        <a:srgbClr val="26005C"/>
      </a:hlink>
      <a:folHlink>
        <a:srgbClr val="33006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9766</TotalTime>
  <Words>282</Words>
  <Application>Microsoft Macintosh PowerPoint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Encode Sans Normal Black</vt:lpstr>
      <vt:lpstr>Uni Sans Regular</vt:lpstr>
      <vt:lpstr>Arial</vt:lpstr>
      <vt:lpstr>Calibri</vt:lpstr>
      <vt:lpstr>Cambria Math</vt:lpstr>
      <vt:lpstr>Lucida Grande</vt:lpstr>
      <vt:lpstr>Open Sans</vt:lpstr>
      <vt:lpstr>Open Sans Light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Alanya Cannon</dc:creator>
  <cp:lastModifiedBy>PENG DU</cp:lastModifiedBy>
  <cp:revision>947</cp:revision>
  <cp:lastPrinted>2016-02-10T20:19:12Z</cp:lastPrinted>
  <dcterms:created xsi:type="dcterms:W3CDTF">2014-10-14T00:51:43Z</dcterms:created>
  <dcterms:modified xsi:type="dcterms:W3CDTF">2026-09-27T17:49:31Z</dcterms:modified>
</cp:coreProperties>
</file>